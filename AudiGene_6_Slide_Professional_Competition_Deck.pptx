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udigene-tau.vercel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8FAFF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Oval 3"/>
          <p:cNvSpPr/>
          <p:nvPr/>
        </p:nvSpPr>
        <p:spPr>
          <a:xfrm>
            <a:off x="8366760" y="1005840"/>
            <a:ext cx="118872" cy="118872"/>
          </a:xfrm>
          <a:prstGeom prst="ellipse">
            <a:avLst/>
          </a:prstGeom>
          <a:solidFill>
            <a:srgbClr val="2A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1417320"/>
            <a:ext cx="118872" cy="118872"/>
          </a:xfrm>
          <a:prstGeom prst="ellipse">
            <a:avLst/>
          </a:prstGeom>
          <a:solidFill>
            <a:srgbClr val="0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61320" y="2331720"/>
            <a:ext cx="118872" cy="118872"/>
          </a:xfrm>
          <a:prstGeom prst="ellipse">
            <a:avLst/>
          </a:prstGeom>
          <a:solidFill>
            <a:srgbClr val="714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23960" y="2743200"/>
            <a:ext cx="118872" cy="118872"/>
          </a:xfrm>
          <a:prstGeom prst="ellipse">
            <a:avLst/>
          </a:prstGeom>
          <a:solidFill>
            <a:srgbClr val="E03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3657600"/>
            <a:ext cx="118872" cy="118872"/>
          </a:xfrm>
          <a:prstGeom prst="ellipse">
            <a:avLst/>
          </a:prstGeom>
          <a:solidFill>
            <a:srgbClr val="2A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92440" y="3977639"/>
            <a:ext cx="118872" cy="118872"/>
          </a:xfrm>
          <a:prstGeom prst="ellipse">
            <a:avLst/>
          </a:prstGeom>
          <a:solidFill>
            <a:srgbClr val="0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85632" y="1069848"/>
            <a:ext cx="1161288" cy="411480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65792" y="1481328"/>
            <a:ext cx="795528" cy="914400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887968" y="1536192"/>
            <a:ext cx="758952" cy="1225296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156448" y="2761488"/>
            <a:ext cx="731520" cy="1243584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42832" y="2816352"/>
            <a:ext cx="1115568" cy="896111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58400" y="2395728"/>
            <a:ext cx="566928" cy="1316735"/>
          </a:xfrm>
          <a:prstGeom prst="line">
            <a:avLst/>
          </a:prstGeom>
          <a:ln w="17780">
            <a:solidFill>
              <a:srgbClr val="3D4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1417320"/>
            <a:ext cx="6858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8FAFF"/>
                </a:solidFill>
                <a:latin typeface="Aptos"/>
              </a:defRPr>
            </a:pPr>
            <a:r>
              <a:t>WHAT IF A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847088"/>
            <a:ext cx="7132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600" b="1">
                <a:solidFill>
                  <a:srgbClr val="00C3DA"/>
                </a:solidFill>
                <a:latin typeface="Aptos"/>
              </a:defRPr>
            </a:pPr>
            <a:r>
              <a:t>COULD BE HEARD?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24912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1DBF3"/>
                </a:solidFill>
                <a:latin typeface="Aptos"/>
              </a:defRPr>
            </a:pPr>
            <a:r>
              <a:t>AudiGene connects sequence comparison,</a:t>
            </a:r>
            <a:br/>
            <a:r>
              <a:t>sonification and AI explanation in one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96512"/>
            <a:ext cx="123444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7880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F8FAFF"/>
                </a:solidFill>
                <a:latin typeface="Aptos"/>
              </a:defRPr>
            </a:pPr>
            <a:r>
              <a:t>SEQUENCE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7128" y="4096512"/>
            <a:ext cx="123444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E83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417880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F8FAFF"/>
                </a:solidFill>
                <a:latin typeface="Aptos"/>
              </a:defRPr>
            </a:pPr>
            <a:r>
              <a:t>VARIANT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4096512"/>
            <a:ext cx="123444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714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417880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F8FAFF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1768" y="4096512"/>
            <a:ext cx="123444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00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1768" y="417880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F8FAFF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4096512"/>
            <a:ext cx="123444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E03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17880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F8FAFF"/>
                </a:solidFill>
                <a:latin typeface="Aptos"/>
              </a:defRPr>
            </a:pPr>
            <a:r>
              <a:t>AI EXPLANATION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77240" y="5222441"/>
            <a:ext cx="64654" cy="1249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1894" y="5220148"/>
            <a:ext cx="64655" cy="229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6549" y="5213379"/>
            <a:ext cx="64654" cy="676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71203" y="5201326"/>
            <a:ext cx="64655" cy="1205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35858" y="5200816"/>
            <a:ext cx="64654" cy="51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00512" y="5186799"/>
            <a:ext cx="64655" cy="1401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65167" y="5154562"/>
            <a:ext cx="64654" cy="3223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29821" y="5154562"/>
            <a:ext cx="64655" cy="558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94476" y="5160148"/>
            <a:ext cx="64654" cy="4406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59130" y="5204211"/>
            <a:ext cx="64655" cy="3367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23785" y="5237884"/>
            <a:ext cx="64655" cy="4341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88440" y="5281302"/>
            <a:ext cx="64654" cy="6234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53094" y="5343650"/>
            <a:ext cx="64655" cy="926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17749" y="5314073"/>
            <a:ext cx="64654" cy="3883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82403" y="5310854"/>
            <a:ext cx="64655" cy="321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47058" y="5310854"/>
            <a:ext cx="64654" cy="1160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11712" y="5302673"/>
            <a:ext cx="64655" cy="1978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76367" y="5302673"/>
            <a:ext cx="64654" cy="660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941021" y="5309274"/>
            <a:ext cx="64655" cy="2577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005676" y="5278541"/>
            <a:ext cx="64654" cy="5650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070330" y="5173372"/>
            <a:ext cx="64655" cy="10516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34985" y="5117545"/>
            <a:ext cx="64655" cy="5582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199640" y="5071239"/>
            <a:ext cx="64654" cy="4630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264294" y="5019676"/>
            <a:ext cx="64655" cy="5156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28949" y="5019676"/>
            <a:ext cx="64654" cy="3950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93603" y="5059183"/>
            <a:ext cx="64655" cy="9237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458258" y="5151554"/>
            <a:ext cx="64654" cy="1990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522912" y="5167796"/>
            <a:ext cx="64655" cy="366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587567" y="5167796"/>
            <a:ext cx="64654" cy="4152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652221" y="5209323"/>
            <a:ext cx="64655" cy="939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16876" y="5213554"/>
            <a:ext cx="64654" cy="516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81530" y="5213554"/>
            <a:ext cx="64655" cy="9691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846185" y="5310472"/>
            <a:ext cx="64655" cy="12527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910840" y="5435743"/>
            <a:ext cx="64654" cy="2886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975494" y="5464207"/>
            <a:ext cx="64655" cy="40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040149" y="5461784"/>
            <a:ext cx="64654" cy="242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104803" y="5360208"/>
            <a:ext cx="64655" cy="10157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169458" y="5229960"/>
            <a:ext cx="64654" cy="13024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234112" y="5209946"/>
            <a:ext cx="64655" cy="20014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298767" y="5209946"/>
            <a:ext cx="64654" cy="698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363421" y="5167993"/>
            <a:ext cx="64655" cy="4893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428076" y="5153784"/>
            <a:ext cx="64654" cy="1420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492730" y="5151862"/>
            <a:ext cx="64655" cy="192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557385" y="5051252"/>
            <a:ext cx="64654" cy="10061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622039" y="4957191"/>
            <a:ext cx="64655" cy="9406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686694" y="4957191"/>
            <a:ext cx="64655" cy="3619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751349" y="4993387"/>
            <a:ext cx="64654" cy="6673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816003" y="5060123"/>
            <a:ext cx="64655" cy="5663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880658" y="5116754"/>
            <a:ext cx="64654" cy="13431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945312" y="5251065"/>
            <a:ext cx="64655" cy="124274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009967" y="5365578"/>
            <a:ext cx="64654" cy="976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074621" y="5336862"/>
            <a:ext cx="64655" cy="2871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39276" y="5336862"/>
            <a:ext cx="64654" cy="3643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03930" y="5373294"/>
            <a:ext cx="64655" cy="200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268585" y="5364843"/>
            <a:ext cx="64655" cy="1045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333240" y="5364843"/>
            <a:ext cx="64654" cy="7088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97894" y="5435730"/>
            <a:ext cx="64655" cy="3469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462549" y="5370825"/>
            <a:ext cx="64654" cy="9960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527203" y="5262704"/>
            <a:ext cx="64655" cy="10812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591858" y="5191005"/>
            <a:ext cx="64654" cy="7169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656512" y="5076873"/>
            <a:ext cx="64655" cy="11413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721167" y="5004066"/>
            <a:ext cx="64654" cy="7280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785821" y="5004066"/>
            <a:ext cx="64655" cy="5741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850476" y="5061478"/>
            <a:ext cx="64654" cy="5570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915130" y="5101596"/>
            <a:ext cx="64655" cy="1558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979785" y="5101596"/>
            <a:ext cx="64654" cy="1536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044439" y="5116964"/>
            <a:ext cx="64655" cy="2761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5109094" y="5111899"/>
            <a:ext cx="64655" cy="3267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173749" y="5111899"/>
            <a:ext cx="64654" cy="1477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238403" y="5126670"/>
            <a:ext cx="64655" cy="12191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303058" y="5248585"/>
            <a:ext cx="64654" cy="9805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367712" y="5346641"/>
            <a:ext cx="64655" cy="4003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432367" y="5386678"/>
            <a:ext cx="64654" cy="5446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497021" y="5441146"/>
            <a:ext cx="64655" cy="614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61676" y="5356935"/>
            <a:ext cx="64654" cy="9036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626330" y="5292868"/>
            <a:ext cx="64655" cy="6406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690985" y="5292868"/>
            <a:ext cx="64655" cy="415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755640" y="5276035"/>
            <a:ext cx="64654" cy="2098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820294" y="5245112"/>
            <a:ext cx="64655" cy="3092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84949" y="5245112"/>
            <a:ext cx="64654" cy="9677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949603" y="5225390"/>
            <a:ext cx="64655" cy="2939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014258" y="5133908"/>
            <a:ext cx="64654" cy="9148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078912" y="5086292"/>
            <a:ext cx="64655" cy="4761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143567" y="5086292"/>
            <a:ext cx="64654" cy="811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208221" y="5094408"/>
            <a:ext cx="64655" cy="2916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272876" y="5097324"/>
            <a:ext cx="64654" cy="3275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337530" y="5130074"/>
            <a:ext cx="64655" cy="7821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402185" y="5208292"/>
            <a:ext cx="64654" cy="40519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466839" y="5241537"/>
            <a:ext cx="64655" cy="7274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531494" y="5241537"/>
            <a:ext cx="64655" cy="9783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596149" y="5251320"/>
            <a:ext cx="64654" cy="1496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60803" y="5260318"/>
            <a:ext cx="64655" cy="5964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725458" y="5260318"/>
            <a:ext cx="64654" cy="11850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790112" y="5272168"/>
            <a:ext cx="64655" cy="28088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54767" y="5297014"/>
            <a:ext cx="64654" cy="3242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19421" y="5272509"/>
            <a:ext cx="64655" cy="2450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84076" y="5255785"/>
            <a:ext cx="64654" cy="16724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48730" y="5240034"/>
            <a:ext cx="64655" cy="15751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113385" y="5234939"/>
            <a:ext cx="64655" cy="5095"/>
          </a:xfrm>
          <a:prstGeom prst="line">
            <a:avLst/>
          </a:prstGeom>
          <a:ln w="13970">
            <a:solidFill>
              <a:srgbClr val="00C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749808" y="5696712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07B99"/>
                </a:solidFill>
                <a:latin typeface="Aptos"/>
              </a:defRPr>
            </a:pPr>
            <a:r>
              <a:t>A biological event becomes a synchronized perceptual event.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707D9F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707D9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70B1C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01 •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70B1C"/>
                </a:solidFill>
                <a:latin typeface="Aptos"/>
              </a:defRPr>
            </a:pPr>
            <a:r>
              <a:t>Sequence data tells us WHAT changed. AudiGene asks: can we experience WHERE it changed?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707B99"/>
                </a:solidFill>
                <a:latin typeface="Aptos"/>
              </a:defRPr>
            </a:pPr>
            <a:r>
              <a:t>Traditional sequence views separate alignment, plots, audio and interpretation. AudiGene links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6903720" cy="3063240"/>
          </a:xfrm>
          <a:prstGeom prst="roundRect">
            <a:avLst/>
          </a:prstGeom>
          <a:solidFill>
            <a:srgbClr val="FAFCFF"/>
          </a:solidFill>
          <a:ln>
            <a:solidFill>
              <a:srgbClr val="DA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877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07B99"/>
                </a:solidFill>
                <a:latin typeface="Aptos"/>
              </a:defRPr>
            </a:pPr>
            <a:r>
              <a:t>CONVENTIONAL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ATGCCTGACGTTACGGTAC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2A68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46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04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04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6220" y="306324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1EB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6220" y="309067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1EB06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ATGCCTGATGTTACGGTAC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2A68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746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46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04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04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46220" y="3703320"/>
            <a:ext cx="310896" cy="310896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6220" y="373075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224528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81F3A"/>
                </a:solidFill>
                <a:latin typeface="Aptos"/>
              </a:defRPr>
            </a:pPr>
            <a:r>
              <a:t>The difference exists — but the user must mentally connect</a:t>
            </a:r>
            <a:br/>
            <a:r>
              <a:t>position, variant, graph and interpretation.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2331720"/>
            <a:ext cx="3703320" cy="3063240"/>
          </a:xfrm>
          <a:prstGeom prst="roundRect">
            <a:avLst/>
          </a:prstGeom>
          <a:solidFill>
            <a:srgbClr val="070B1C"/>
          </a:solidFill>
          <a:ln>
            <a:solidFill>
              <a:srgbClr val="07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1583" y="25877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C3DA"/>
                </a:solidFill>
                <a:latin typeface="Aptos"/>
              </a:defRPr>
            </a:pPr>
            <a:r>
              <a:t>AUDIGENE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1583" y="2971800"/>
            <a:ext cx="2880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8FAFF"/>
                </a:solidFill>
                <a:latin typeface="Aptos"/>
              </a:defRPr>
            </a:pPr>
            <a:r>
              <a:t>One event.</a:t>
            </a:r>
            <a:br/>
            <a:r>
              <a:t>Four synchronized views.</a:t>
            </a:r>
          </a:p>
        </p:txBody>
      </p:sp>
      <p:sp>
        <p:nvSpPr>
          <p:cNvPr id="39" name="Oval 38"/>
          <p:cNvSpPr/>
          <p:nvPr/>
        </p:nvSpPr>
        <p:spPr>
          <a:xfrm>
            <a:off x="8119872" y="3730752"/>
            <a:ext cx="82296" cy="82296"/>
          </a:xfrm>
          <a:prstGeom prst="ellipse">
            <a:avLst/>
          </a:prstGeom>
          <a:solidFill>
            <a:srgbClr val="2A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70332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5DEF4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41" name="Oval 40"/>
          <p:cNvSpPr/>
          <p:nvPr/>
        </p:nvSpPr>
        <p:spPr>
          <a:xfrm>
            <a:off x="8119872" y="4078224"/>
            <a:ext cx="82296" cy="82296"/>
          </a:xfrm>
          <a:prstGeom prst="ellipse">
            <a:avLst/>
          </a:prstGeom>
          <a:solidFill>
            <a:srgbClr val="714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050791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5DEF4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43" name="Oval 42"/>
          <p:cNvSpPr/>
          <p:nvPr/>
        </p:nvSpPr>
        <p:spPr>
          <a:xfrm>
            <a:off x="8119872" y="4425696"/>
            <a:ext cx="82296" cy="82296"/>
          </a:xfrm>
          <a:prstGeom prst="ellipse">
            <a:avLst/>
          </a:prstGeom>
          <a:solidFill>
            <a:srgbClr val="0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4398264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5DEF4"/>
                </a:solidFill>
                <a:latin typeface="Aptos"/>
              </a:defRPr>
            </a:pPr>
            <a:r>
              <a:t>WAVEFORM</a:t>
            </a:r>
          </a:p>
        </p:txBody>
      </p:sp>
      <p:sp>
        <p:nvSpPr>
          <p:cNvPr id="45" name="Oval 44"/>
          <p:cNvSpPr/>
          <p:nvPr/>
        </p:nvSpPr>
        <p:spPr>
          <a:xfrm>
            <a:off x="8119872" y="4773168"/>
            <a:ext cx="82296" cy="82296"/>
          </a:xfrm>
          <a:prstGeom prst="ellipse">
            <a:avLst/>
          </a:prstGeom>
          <a:solidFill>
            <a:srgbClr val="E03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7457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5DEF4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70B1C"/>
                </a:solidFill>
                <a:latin typeface="Aptos"/>
              </a:defRPr>
            </a:pPr>
            <a:r>
              <a:t>The design target: reduce the cognitive gap between detecting a sequence difference and understanding 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828BA2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828BA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8FAFF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0C3DA"/>
                </a:solidFill>
                <a:latin typeface="Aptos"/>
              </a:defRPr>
            </a:pPr>
            <a:r>
              <a:t>02 • SCIENTIFIC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Aptos"/>
              </a:defRPr>
            </a:pPr>
            <a:r>
              <a:t>The sonification is grounded in a published 2017 methodology — with provenance preserved.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BCC9E6"/>
                </a:solidFill>
                <a:latin typeface="Aptos"/>
              </a:defRPr>
            </a:pPr>
            <a:r>
              <a:t>Paper-derived rules are separated from AudiGene interpretations and product innovations.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31720"/>
            <a:ext cx="2057400" cy="1554480"/>
          </a:xfrm>
          <a:prstGeom prst="roundRect">
            <a:avLst/>
          </a:prstGeom>
          <a:solidFill>
            <a:srgbClr val="0E1630"/>
          </a:solidFill>
          <a:ln>
            <a:solidFill>
              <a:srgbClr val="344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963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A6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889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Aptos"/>
              </a:defRPr>
            </a:pPr>
            <a:r>
              <a:t>Nucleotide Chroma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182112"/>
            <a:ext cx="1755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7C4E0"/>
                </a:solidFill>
                <a:latin typeface="Aptos"/>
              </a:defRPr>
            </a:pPr>
            <a:r>
              <a:t>A / C / G / T → pitch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2331720"/>
            <a:ext cx="2057400" cy="1554480"/>
          </a:xfrm>
          <a:prstGeom prst="roundRect">
            <a:avLst/>
          </a:prstGeom>
          <a:solidFill>
            <a:srgbClr val="0E1630"/>
          </a:solidFill>
          <a:ln>
            <a:solidFill>
              <a:srgbClr val="344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4963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7889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Aptos"/>
              </a:defRPr>
            </a:pPr>
            <a:r>
              <a:t>DNA Chords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182112"/>
            <a:ext cx="1755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7C4E0"/>
                </a:solidFill>
                <a:latin typeface="Aptos"/>
              </a:defRPr>
            </a:pPr>
            <a:r>
              <a:t>C-major chord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2331720"/>
            <a:ext cx="2057400" cy="1554480"/>
          </a:xfrm>
          <a:prstGeom prst="roundRect">
            <a:avLst/>
          </a:prstGeom>
          <a:solidFill>
            <a:srgbClr val="0E1630"/>
          </a:solidFill>
          <a:ln>
            <a:solidFill>
              <a:srgbClr val="344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24963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148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7889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Aptos"/>
              </a:defRPr>
            </a:pPr>
            <a:r>
              <a:t>Nucleotide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182112"/>
            <a:ext cx="1755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7C4E0"/>
                </a:solidFill>
                <a:latin typeface="Aptos"/>
              </a:defRPr>
            </a:pPr>
            <a:r>
              <a:t>rhythmic encoding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331720"/>
            <a:ext cx="2057400" cy="1554480"/>
          </a:xfrm>
          <a:prstGeom prst="roundRect">
            <a:avLst/>
          </a:prstGeom>
          <a:solidFill>
            <a:srgbClr val="0E1630"/>
          </a:solidFill>
          <a:ln>
            <a:solidFill>
              <a:srgbClr val="344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24963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030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7889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Aptos"/>
              </a:defRPr>
            </a:pPr>
            <a:r>
              <a:t>DNA Walking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182112"/>
            <a:ext cx="1755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7C4E0"/>
                </a:solidFill>
                <a:latin typeface="Aptos"/>
              </a:defRPr>
            </a:pPr>
            <a:r>
              <a:t>transition → interval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65792" y="2331720"/>
            <a:ext cx="2057400" cy="1554480"/>
          </a:xfrm>
          <a:prstGeom prst="roundRect">
            <a:avLst/>
          </a:prstGeom>
          <a:solidFill>
            <a:srgbClr val="0E1630"/>
          </a:solidFill>
          <a:ln>
            <a:solidFill>
              <a:srgbClr val="344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24963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E8B2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7889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Aptos"/>
              </a:defRPr>
            </a:pPr>
            <a:r>
              <a:t>Codon Walking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3182112"/>
            <a:ext cx="1755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7C4E0"/>
                </a:solidFill>
                <a:latin typeface="Aptos"/>
              </a:defRPr>
            </a:pPr>
            <a:r>
              <a:t>codon-aware progression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3434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PROVENANCE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261104"/>
            <a:ext cx="205740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343400"/>
            <a:ext cx="2057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F8FAFF"/>
                </a:solidFill>
                <a:latin typeface="Aptos"/>
              </a:defRPr>
            </a:pPr>
            <a:r>
              <a:t>PAPER_EXACT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261104"/>
            <a:ext cx="205740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714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343400"/>
            <a:ext cx="2057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F8FAFF"/>
                </a:solidFill>
                <a:latin typeface="Aptos"/>
              </a:defRPr>
            </a:pPr>
            <a:r>
              <a:t>PAPER_QUALITATIVE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261104"/>
            <a:ext cx="205740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EE8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2057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F8FAFF"/>
                </a:solidFill>
                <a:latin typeface="Aptos"/>
              </a:defRPr>
            </a:pPr>
            <a:r>
              <a:t>PAPER_DERIVED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59" y="4261104"/>
            <a:ext cx="2057400" cy="393192"/>
          </a:xfrm>
          <a:prstGeom prst="roundRect">
            <a:avLst/>
          </a:prstGeom>
          <a:solidFill>
            <a:srgbClr val="111936"/>
          </a:solidFill>
          <a:ln>
            <a:solidFill>
              <a:srgbClr val="E03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59" y="4343400"/>
            <a:ext cx="2057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F8FAFF"/>
                </a:solidFill>
                <a:latin typeface="Aptos"/>
              </a:defRPr>
            </a:pPr>
            <a:r>
              <a:t>AUDIGENE_INTERPRETATION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83480"/>
            <a:ext cx="10927080" cy="868680"/>
          </a:xfrm>
          <a:prstGeom prst="roundRect">
            <a:avLst/>
          </a:prstGeom>
          <a:solidFill>
            <a:srgbClr val="0C132B"/>
          </a:solidFill>
          <a:ln>
            <a:solidFill>
              <a:srgbClr val="30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1937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MAPPING 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148072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Aptos"/>
              </a:defRPr>
            </a:pPr>
            <a:r>
              <a:t>A → 262 Hz    C → 330 Hz    G → 392 Hz    T → 523 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148072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1CDE6"/>
                </a:solidFill>
                <a:latin typeface="Aptos"/>
              </a:defRPr>
            </a:pPr>
            <a:r>
              <a:t>100 ms events • equal temperament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707D9F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707D9F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70B1C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03 • AGENTIC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70B1C"/>
                </a:solidFill>
                <a:latin typeface="Aptos"/>
              </a:defRPr>
            </a:pPr>
            <a:r>
              <a:t>AI orchestrates the investigation. Deterministic modules perform the scientific transformations.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707B99"/>
                </a:solidFill>
                <a:latin typeface="Aptos"/>
              </a:defRPr>
            </a:pPr>
            <a:r>
              <a:t>This separation is the key to making the prototype explainable, testable and competition-grade.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2A6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FASTA / sequences</a:t>
            </a:r>
          </a:p>
        </p:txBody>
      </p:sp>
      <p:sp>
        <p:nvSpPr>
          <p:cNvPr id="10" name="Chevron 9"/>
          <p:cNvSpPr/>
          <p:nvPr/>
        </p:nvSpPr>
        <p:spPr>
          <a:xfrm>
            <a:off x="2350008" y="2816352"/>
            <a:ext cx="228600" cy="228600"/>
          </a:xfrm>
          <a:prstGeom prst="chevron">
            <a:avLst/>
          </a:prstGeom>
          <a:solidFill>
            <a:srgbClr val="2A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00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00C3D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biological format</a:t>
            </a:r>
          </a:p>
        </p:txBody>
      </p:sp>
      <p:sp>
        <p:nvSpPr>
          <p:cNvPr id="14" name="Chevron 13"/>
          <p:cNvSpPr/>
          <p:nvPr/>
        </p:nvSpPr>
        <p:spPr>
          <a:xfrm>
            <a:off x="4270248" y="2816352"/>
            <a:ext cx="228600" cy="228600"/>
          </a:xfrm>
          <a:prstGeom prst="chevron">
            <a:avLst/>
          </a:prstGeom>
          <a:solidFill>
            <a:srgbClr val="0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714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7148EF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sequence relationship</a:t>
            </a:r>
          </a:p>
        </p:txBody>
      </p:sp>
      <p:sp>
        <p:nvSpPr>
          <p:cNvPr id="18" name="Chevron 17"/>
          <p:cNvSpPr/>
          <p:nvPr/>
        </p:nvSpPr>
        <p:spPr>
          <a:xfrm>
            <a:off x="6190488" y="2816352"/>
            <a:ext cx="228600" cy="228600"/>
          </a:xfrm>
          <a:prstGeom prst="chevron">
            <a:avLst/>
          </a:prstGeom>
          <a:solidFill>
            <a:srgbClr val="714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83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E83745"/>
                </a:solidFill>
                <a:latin typeface="Aptos"/>
              </a:defRPr>
            </a:pPr>
            <a:r>
              <a:t>DIFFERENCES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substitution / indel</a:t>
            </a:r>
          </a:p>
        </p:txBody>
      </p:sp>
      <p:sp>
        <p:nvSpPr>
          <p:cNvPr id="22" name="Chevron 21"/>
          <p:cNvSpPr/>
          <p:nvPr/>
        </p:nvSpPr>
        <p:spPr>
          <a:xfrm>
            <a:off x="8110727" y="2816352"/>
            <a:ext cx="228600" cy="228600"/>
          </a:xfrm>
          <a:prstGeom prst="chevron">
            <a:avLst/>
          </a:prstGeom>
          <a:solidFill>
            <a:srgbClr val="E8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03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E03091"/>
                </a:solidFill>
                <a:latin typeface="Aptos"/>
              </a:defRPr>
            </a:pPr>
            <a:r>
              <a:t>SONIFY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event → frequency</a:t>
            </a:r>
          </a:p>
        </p:txBody>
      </p:sp>
      <p:sp>
        <p:nvSpPr>
          <p:cNvPr id="26" name="Chevron 25"/>
          <p:cNvSpPr/>
          <p:nvPr/>
        </p:nvSpPr>
        <p:spPr>
          <a:xfrm>
            <a:off x="10030967" y="2816352"/>
            <a:ext cx="228600" cy="228600"/>
          </a:xfrm>
          <a:prstGeom prst="chevron">
            <a:avLst/>
          </a:prstGeom>
          <a:solidFill>
            <a:srgbClr val="E03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19" y="2423160"/>
            <a:ext cx="178308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E8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7" y="259689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EE8B26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3847" y="29169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07B99"/>
                </a:solidFill>
                <a:latin typeface="Aptos"/>
              </a:defRPr>
            </a:pPr>
            <a:r>
              <a:t>LLM over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69080"/>
            <a:ext cx="3657600" cy="1417320"/>
          </a:xfrm>
          <a:prstGeom prst="roundRect">
            <a:avLst/>
          </a:prstGeom>
          <a:solidFill>
            <a:srgbClr val="070B1C"/>
          </a:solidFill>
          <a:ln>
            <a:solidFill>
              <a:srgbClr val="07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29768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AI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5994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F"/>
                </a:solidFill>
                <a:latin typeface="Aptos"/>
              </a:defRPr>
            </a:pPr>
            <a:r>
              <a:t>Claude 3.5 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BCC9E5"/>
                </a:solidFill>
                <a:latin typeface="Aptos"/>
              </a:defRPr>
            </a:pPr>
            <a:r>
              <a:t>Agentic orchestration + natural-language explanation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069080"/>
            <a:ext cx="3200400" cy="1417320"/>
          </a:xfrm>
          <a:prstGeom prst="roundRect">
            <a:avLst/>
          </a:prstGeom>
          <a:solidFill>
            <a:srgbClr val="EEF3FD"/>
          </a:solidFill>
          <a:ln>
            <a:solidFill>
              <a:srgbClr val="D3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2976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148EF"/>
                </a:solidFill>
                <a:latin typeface="Aptos"/>
              </a:defRPr>
            </a:pPr>
            <a:r>
              <a:t>DETERMINISTIC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5994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70B1C"/>
                </a:solidFill>
                <a:latin typeface="Aptos"/>
              </a:defRPr>
            </a:pPr>
            <a:r>
              <a:t>Analysis + event timeline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377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707B99"/>
                </a:solidFill>
                <a:latin typeface="Aptos"/>
              </a:defRPr>
            </a:pPr>
            <a:r>
              <a:t>Unit-testable scientific transformations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069080"/>
            <a:ext cx="3566160" cy="1417320"/>
          </a:xfrm>
          <a:prstGeom prst="roundRect">
            <a:avLst/>
          </a:prstGeom>
          <a:solidFill>
            <a:srgbClr val="F7F9FE"/>
          </a:solidFill>
          <a:ln>
            <a:solidFill>
              <a:srgbClr val="D3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429768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03091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59943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0B1C"/>
                </a:solidFill>
                <a:latin typeface="Aptos"/>
              </a:defRPr>
            </a:pPr>
            <a:r>
              <a:t>Every event has a position + cause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93776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707B99"/>
                </a:solidFill>
                <a:latin typeface="Aptos"/>
              </a:defRPr>
            </a:pPr>
            <a:r>
              <a:t>The user can trace what the agent did.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828BA2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828BA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8FAFF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0C3DA"/>
                </a:solidFill>
                <a:latin typeface="Aptos"/>
              </a:defRPr>
            </a:pPr>
            <a:r>
              <a:t>04 • 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Aptos"/>
              </a:defRPr>
            </a:pPr>
            <a:r>
              <a:t>The same biological event is rendered across the timeline — and the playhead keeps every modality synchronized.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BCC9E6"/>
                </a:solidFill>
                <a:latin typeface="Aptos"/>
              </a:defRPr>
            </a:pPr>
            <a:r>
              <a:t>This is the moment to stop presenting slides and demonstrate the live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31720"/>
            <a:ext cx="10972800" cy="2514600"/>
          </a:xfrm>
          <a:prstGeom prst="roundRect">
            <a:avLst/>
          </a:prstGeom>
          <a:solidFill>
            <a:srgbClr val="0C132B"/>
          </a:solidFill>
          <a:ln>
            <a:solidFill>
              <a:srgbClr val="31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SYNCHRONIZED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ATGCCGTTACTGACGTTA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063240"/>
            <a:ext cx="246888" cy="246888"/>
          </a:xfrm>
          <a:prstGeom prst="roundRect">
            <a:avLst/>
          </a:prstGeom>
          <a:solidFill>
            <a:srgbClr val="F8FAFF"/>
          </a:solidFill>
          <a:ln>
            <a:solidFill>
              <a:srgbClr val="1EB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090672"/>
            <a:ext cx="246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1EB06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ATGCCGTGACTGACGTTA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584448"/>
            <a:ext cx="246888" cy="246888"/>
          </a:xfrm>
          <a:prstGeom prst="roundRect">
            <a:avLst/>
          </a:prstGeom>
          <a:solidFill>
            <a:srgbClr val="F8FAFF"/>
          </a:solidFill>
          <a:ln>
            <a:solidFill>
              <a:srgbClr val="707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611879"/>
            <a:ext cx="246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707B99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977639"/>
            <a:ext cx="10012680" cy="0"/>
          </a:xfrm>
          <a:prstGeom prst="line">
            <a:avLst/>
          </a:prstGeom>
          <a:ln w="7620">
            <a:solidFill>
              <a:srgbClr val="212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4105655"/>
            <a:ext cx="10012680" cy="0"/>
          </a:xfrm>
          <a:prstGeom prst="line">
            <a:avLst/>
          </a:prstGeom>
          <a:ln w="7620">
            <a:solidFill>
              <a:srgbClr val="212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4233672"/>
            <a:ext cx="10012680" cy="0"/>
          </a:xfrm>
          <a:prstGeom prst="line">
            <a:avLst/>
          </a:prstGeom>
          <a:ln w="7620">
            <a:solidFill>
              <a:srgbClr val="212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4361688"/>
            <a:ext cx="10012680" cy="0"/>
          </a:xfrm>
          <a:prstGeom prst="line">
            <a:avLst/>
          </a:prstGeom>
          <a:ln w="7620">
            <a:solidFill>
              <a:srgbClr val="212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4489704"/>
            <a:ext cx="10012680" cy="0"/>
          </a:xfrm>
          <a:prstGeom prst="line">
            <a:avLst/>
          </a:prstGeom>
          <a:ln w="7620">
            <a:solidFill>
              <a:srgbClr val="212E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4400" y="4236961"/>
            <a:ext cx="101138" cy="1499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5538" y="4234210"/>
            <a:ext cx="101138" cy="275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16676" y="4226087"/>
            <a:ext cx="101138" cy="812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17814" y="4211624"/>
            <a:ext cx="101138" cy="1446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18952" y="4211011"/>
            <a:ext cx="101138" cy="61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420090" y="4194191"/>
            <a:ext cx="101139" cy="16820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21229" y="4155506"/>
            <a:ext cx="101138" cy="3868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2367" y="4155506"/>
            <a:ext cx="101138" cy="670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23505" y="4162209"/>
            <a:ext cx="101138" cy="5287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4643" y="4215085"/>
            <a:ext cx="101138" cy="4040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5781" y="4255493"/>
            <a:ext cx="101139" cy="5210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26920" y="4307594"/>
            <a:ext cx="101138" cy="7481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28058" y="4382412"/>
            <a:ext cx="101138" cy="1111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229196" y="4346920"/>
            <a:ext cx="101138" cy="4660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330334" y="4343057"/>
            <a:ext cx="101138" cy="386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1472" y="4343057"/>
            <a:ext cx="101138" cy="1392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32610" y="4333240"/>
            <a:ext cx="101139" cy="2373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633749" y="4333240"/>
            <a:ext cx="101138" cy="792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34887" y="4341161"/>
            <a:ext cx="101138" cy="30930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36025" y="4304282"/>
            <a:ext cx="101138" cy="6780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37163" y="4178079"/>
            <a:ext cx="101138" cy="12620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38301" y="4111086"/>
            <a:ext cx="101139" cy="6699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39440" y="4055519"/>
            <a:ext cx="101138" cy="5556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40578" y="3993643"/>
            <a:ext cx="101138" cy="6187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41716" y="3993643"/>
            <a:ext cx="101138" cy="4740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42854" y="4041052"/>
            <a:ext cx="101138" cy="11084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543992" y="4151897"/>
            <a:ext cx="101138" cy="2388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45130" y="4171388"/>
            <a:ext cx="101139" cy="439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46269" y="4171388"/>
            <a:ext cx="101138" cy="4983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847407" y="4221220"/>
            <a:ext cx="101138" cy="1127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48545" y="4226297"/>
            <a:ext cx="101138" cy="620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49683" y="4226297"/>
            <a:ext cx="101138" cy="11630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50821" y="4342598"/>
            <a:ext cx="101138" cy="15032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51959" y="4492923"/>
            <a:ext cx="101139" cy="3464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53098" y="4527081"/>
            <a:ext cx="101138" cy="48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54236" y="4524173"/>
            <a:ext cx="101138" cy="290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555374" y="4402281"/>
            <a:ext cx="101138" cy="12189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656512" y="4245984"/>
            <a:ext cx="101138" cy="15629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757650" y="4221967"/>
            <a:ext cx="101139" cy="2401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58789" y="4221967"/>
            <a:ext cx="101138" cy="837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59927" y="4171624"/>
            <a:ext cx="101138" cy="5872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061065" y="4154573"/>
            <a:ext cx="101138" cy="1705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162203" y="4152267"/>
            <a:ext cx="101138" cy="230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63341" y="4031535"/>
            <a:ext cx="101139" cy="12073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64480" y="3918661"/>
            <a:ext cx="101138" cy="11287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465618" y="3918661"/>
            <a:ext cx="101138" cy="4343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566756" y="3962096"/>
            <a:ext cx="101138" cy="8008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667894" y="4042180"/>
            <a:ext cx="101138" cy="6795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69032" y="4110137"/>
            <a:ext cx="101138" cy="16117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870170" y="4271310"/>
            <a:ext cx="101139" cy="14912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71309" y="4408726"/>
            <a:ext cx="101138" cy="1171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72447" y="4374267"/>
            <a:ext cx="101138" cy="3445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73585" y="4374267"/>
            <a:ext cx="101138" cy="4371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274723" y="4417985"/>
            <a:ext cx="101138" cy="2400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375861" y="4407843"/>
            <a:ext cx="101139" cy="1254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477000" y="4407843"/>
            <a:ext cx="101138" cy="8506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78138" y="4492909"/>
            <a:ext cx="101138" cy="4163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679276" y="4415022"/>
            <a:ext cx="101138" cy="11952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780414" y="4285277"/>
            <a:ext cx="101138" cy="12974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881552" y="4199238"/>
            <a:ext cx="101138" cy="8603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982690" y="4062280"/>
            <a:ext cx="101139" cy="13695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083829" y="3974912"/>
            <a:ext cx="101138" cy="8736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184967" y="3974912"/>
            <a:ext cx="101138" cy="6889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286105" y="4043806"/>
            <a:ext cx="101138" cy="6684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387243" y="4091948"/>
            <a:ext cx="101138" cy="1870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488381" y="4091948"/>
            <a:ext cx="101138" cy="1844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589519" y="4110389"/>
            <a:ext cx="101139" cy="3313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690658" y="4104311"/>
            <a:ext cx="101138" cy="3921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791796" y="4104311"/>
            <a:ext cx="101138" cy="1772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92934" y="4122037"/>
            <a:ext cx="101138" cy="14629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994072" y="4268334"/>
            <a:ext cx="101138" cy="11766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095210" y="4386001"/>
            <a:ext cx="101139" cy="4804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196349" y="4434045"/>
            <a:ext cx="101138" cy="6536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297487" y="4499408"/>
            <a:ext cx="101138" cy="737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398625" y="4398354"/>
            <a:ext cx="101138" cy="10843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499763" y="4321474"/>
            <a:ext cx="101138" cy="76880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00901" y="4321474"/>
            <a:ext cx="101139" cy="498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702040" y="4301274"/>
            <a:ext cx="101138" cy="2518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803178" y="4264167"/>
            <a:ext cx="101138" cy="3710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04316" y="4264167"/>
            <a:ext cx="101138" cy="11612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005454" y="4240500"/>
            <a:ext cx="101138" cy="3527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06592" y="4130721"/>
            <a:ext cx="101138" cy="10977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207730" y="4073583"/>
            <a:ext cx="101139" cy="5713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8869" y="4073583"/>
            <a:ext cx="101138" cy="973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410007" y="4083321"/>
            <a:ext cx="101138" cy="349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511145" y="4086820"/>
            <a:ext cx="101138" cy="3930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612283" y="4126121"/>
            <a:ext cx="101138" cy="9386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713421" y="4219982"/>
            <a:ext cx="101139" cy="4862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814560" y="4259877"/>
            <a:ext cx="101138" cy="872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915698" y="4259877"/>
            <a:ext cx="101138" cy="11739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016836" y="4271616"/>
            <a:ext cx="101138" cy="17954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117974" y="4282413"/>
            <a:ext cx="101138" cy="7157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219112" y="4282413"/>
            <a:ext cx="101138" cy="14221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320250" y="4296634"/>
            <a:ext cx="101139" cy="33705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421389" y="4326449"/>
            <a:ext cx="101138" cy="3890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0522527" y="4297043"/>
            <a:ext cx="101138" cy="29406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0623665" y="4276975"/>
            <a:ext cx="101138" cy="20068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0724803" y="4258072"/>
            <a:ext cx="101138" cy="1890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0825941" y="4251959"/>
            <a:ext cx="101139" cy="6113"/>
          </a:xfrm>
          <a:prstGeom prst="line">
            <a:avLst/>
          </a:prstGeom>
          <a:ln w="13970">
            <a:solidFill>
              <a:srgbClr val="2A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715000" y="2487168"/>
            <a:ext cx="0" cy="2130552"/>
          </a:xfrm>
          <a:prstGeom prst="line">
            <a:avLst/>
          </a:prstGeom>
          <a:ln w="30480">
            <a:solidFill>
              <a:srgbClr val="E83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5367528" y="2395728"/>
            <a:ext cx="694944" cy="256032"/>
          </a:xfrm>
          <a:prstGeom prst="roundRect">
            <a:avLst/>
          </a:prstGeom>
          <a:solidFill>
            <a:srgbClr val="E83745"/>
          </a:solidFill>
          <a:ln>
            <a:solidFill>
              <a:srgbClr val="E83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67528" y="2450592"/>
            <a:ext cx="69494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8FAFF"/>
                </a:solidFill>
                <a:latin typeface="Aptos"/>
              </a:defRPr>
            </a:pPr>
            <a:r>
              <a:t>POS 10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85800" y="5166360"/>
            <a:ext cx="2487168" cy="713232"/>
          </a:xfrm>
          <a:prstGeom prst="roundRect">
            <a:avLst/>
          </a:prstGeom>
          <a:solidFill>
            <a:srgbClr val="111936"/>
          </a:solidFill>
          <a:ln>
            <a:solidFill>
              <a:srgbClr val="34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5321808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E83745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" y="556869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BCC9E4"/>
                </a:solidFill>
                <a:latin typeface="Aptos"/>
              </a:defRPr>
            </a:pPr>
            <a:r>
              <a:t>sequence alignment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74720" y="5166360"/>
            <a:ext cx="2487168" cy="713232"/>
          </a:xfrm>
          <a:prstGeom prst="roundRect">
            <a:avLst/>
          </a:prstGeom>
          <a:solidFill>
            <a:srgbClr val="111936"/>
          </a:solidFill>
          <a:ln>
            <a:solidFill>
              <a:srgbClr val="34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11879" y="5321808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7148EF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11879" y="556869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BCC9E4"/>
                </a:solidFill>
                <a:latin typeface="Aptos"/>
              </a:defRPr>
            </a:pPr>
            <a:r>
              <a:t>mapped pitch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63640" y="5166360"/>
            <a:ext cx="2487168" cy="713232"/>
          </a:xfrm>
          <a:prstGeom prst="roundRect">
            <a:avLst/>
          </a:prstGeom>
          <a:solidFill>
            <a:srgbClr val="111936"/>
          </a:solidFill>
          <a:ln>
            <a:solidFill>
              <a:srgbClr val="34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00800" y="5321808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00C3DA"/>
                </a:solidFill>
                <a:latin typeface="Aptos"/>
              </a:defRPr>
            </a:pPr>
            <a:r>
              <a:t>WAVEFORM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00800" y="556869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BCC9E4"/>
                </a:solidFill>
                <a:latin typeface="Aptos"/>
              </a:defRPr>
            </a:pPr>
            <a:r>
              <a:t>rendered audio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052559" y="5166360"/>
            <a:ext cx="2487168" cy="713232"/>
          </a:xfrm>
          <a:prstGeom prst="roundRect">
            <a:avLst/>
          </a:prstGeom>
          <a:solidFill>
            <a:srgbClr val="111936"/>
          </a:solidFill>
          <a:ln>
            <a:solidFill>
              <a:srgbClr val="34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89719" y="5321808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A68FF"/>
                </a:solidFill>
                <a:latin typeface="Aptos"/>
              </a:defRPr>
            </a:pPr>
            <a:r>
              <a:t>SPECTRUM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189719" y="556869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BCC9E4"/>
                </a:solidFill>
                <a:latin typeface="Aptos"/>
              </a:defRPr>
            </a:pPr>
            <a:r>
              <a:t>frequency content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707D9F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707D9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70B1C"/>
                </a:solidFill>
                <a:latin typeface="Aptos"/>
              </a:defRPr>
            </a:pPr>
            <a:r>
              <a:t>◉  AudiGene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00C3DA"/>
                </a:solidFill>
                <a:latin typeface="Aptos"/>
              </a:defRPr>
            </a:pPr>
            <a:r>
              <a:t>SEE. HEAR. UNDERSTAND DNA.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8FF"/>
                </a:solidFill>
                <a:latin typeface="Aptos"/>
              </a:defRPr>
            </a:pPr>
            <a:r>
              <a:t>05 • LIVE PROTOTYPE +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70B1C"/>
                </a:solidFill>
                <a:latin typeface="Aptos"/>
              </a:defRPr>
            </a:pPr>
            <a:r>
              <a:t>Don't tell the judges it works. Let them watch one sequence difference become an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707B99"/>
                </a:solidFill>
                <a:latin typeface="Aptos"/>
              </a:defRPr>
            </a:pPr>
            <a:r>
              <a:t>A 90-second demonstration is enough: validate → compare → play → pause → ask the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6995160" cy="3611880"/>
          </a:xfrm>
          <a:prstGeom prst="roundRect">
            <a:avLst/>
          </a:prstGeom>
          <a:solidFill>
            <a:srgbClr val="F8FAFF"/>
          </a:solidFill>
          <a:ln>
            <a:solidFill>
              <a:srgbClr val="D7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digene_u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04288"/>
            <a:ext cx="6684264" cy="33101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2148840"/>
            <a:ext cx="3703320" cy="3611880"/>
          </a:xfrm>
          <a:prstGeom prst="roundRect">
            <a:avLst/>
          </a:prstGeom>
          <a:solidFill>
            <a:srgbClr val="070B1C"/>
          </a:solidFill>
          <a:ln>
            <a:solidFill>
              <a:srgbClr val="07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44144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C3DA"/>
                </a:solidFill>
                <a:latin typeface="Aptos"/>
              </a:defRPr>
            </a:pPr>
            <a:r>
              <a:t>LIVE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8FAFF"/>
                </a:solidFill>
                <a:latin typeface="Aptos"/>
              </a:defRPr>
            </a:pPr>
            <a:r>
              <a:t>audigene-</a:t>
            </a:r>
            <a:br/>
            <a:r>
              <a:t>tau.vercel.app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11880"/>
            <a:ext cx="2743200" cy="484632"/>
          </a:xfrm>
          <a:prstGeom prst="roundRect">
            <a:avLst/>
          </a:prstGeom>
          <a:solidFill>
            <a:srgbClr val="2A68FF"/>
          </a:solidFill>
          <a:ln>
            <a:solidFill>
              <a:srgbClr val="2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703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Aptos"/>
              </a:defRPr>
            </a:pPr>
            <a:r>
              <a:rPr>
                <a:hlinkClick r:id="rId3"/>
              </a:rPr>
              <a:t>OPEN LIVE PROTOTYPE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370832"/>
            <a:ext cx="2880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E03091"/>
                </a:solidFill>
                <a:latin typeface="Aptos"/>
              </a:defRPr>
            </a:pPr>
            <a:r>
              <a:t>DEMO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64515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01  Load two sequences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855464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02  Validate the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065776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03  Compare + detect differences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276088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04  Press 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486400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05  Pause on the red playhead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69671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CAD5EC"/>
                </a:solidFill>
                <a:latin typeface="Aptos"/>
              </a:defRPr>
            </a:pPr>
            <a:r>
              <a:t>06  Ask: “Why did I hear that?”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EF3FD"/>
          </a:solidFill>
          <a:ln>
            <a:solidFill>
              <a:srgbClr val="DA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62472"/>
            <a:ext cx="10561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070B1C"/>
                </a:solidFill>
                <a:latin typeface="Aptos"/>
              </a:defRPr>
            </a:pPr>
            <a:r>
              <a:t>THE PROMISE  •  See the difference.  Hear the difference.  Understand the difference.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65392"/>
            <a:ext cx="9875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1">
                <a:solidFill>
                  <a:srgbClr val="828BA2"/>
                </a:solidFill>
                <a:latin typeface="Aptos"/>
              </a:defRPr>
            </a:pPr>
            <a:r>
              <a:t>AUDIGENE  •  AGENTIC BIOINFORMATICS  •  COMPARATIVE SONIFICATION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1">
                <a:solidFill>
                  <a:srgbClr val="828BA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AudiGene — Professional 6-Slide Competition Deck</dc:title>
  <dc:subject>Agentic bioinformatics and comparative sequence sonification</dc:subject>
  <dc:creator>AudiGene</dc:creator>
  <cp:keywords>AudiGene, bioinformatics, sonification, agentic AI, sequence comparison, Claude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